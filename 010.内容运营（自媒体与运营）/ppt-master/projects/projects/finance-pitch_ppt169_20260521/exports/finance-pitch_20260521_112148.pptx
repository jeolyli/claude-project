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8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FF8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62856" y="2148840"/>
            <a:ext cx="30662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effectLst>
                  <a:glow rad="28575">
                    <a:srgbClr val="000000">
                      <a:alpha val="30000"/>
                    </a:srgbClr>
                  </a:glow>
                </a:effectLst>
                <a:latin typeface="Segoe UI"/>
                <a:ea typeface="Microsoft YaHei"/>
                <a:cs typeface="Segoe UI"/>
              </a:rPr>
              <a:t>财务管家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27245" y="313944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B8C5D6"/>
                </a:solidFill>
                <a:latin typeface="Segoe UI"/>
                <a:ea typeface="Microsoft YaHei"/>
                <a:cs typeface="Segoe UI"/>
              </a:rPr>
              <a:t>让每一笔收支都有迹可循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09750" y="4000500"/>
            <a:ext cx="2476500" cy="1143000"/>
            <a:chOff x="1809750" y="4000500"/>
            <a:chExt cx="2476500" cy="1143000"/>
          </a:xfrm>
        </p:grpSpPr>
        <p:sp>
          <p:nvSpPr>
            <p:cNvPr id="6" name="Rectangle 6"/>
            <p:cNvSpPr/>
            <p:nvPr/>
          </p:nvSpPr>
          <p:spPr>
            <a:xfrm>
              <a:off x="1809750" y="40005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152538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92820" y="4232910"/>
              <a:ext cx="7103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3秒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27960" y="4744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极速记账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57750" y="4000500"/>
            <a:ext cx="2476500" cy="1143000"/>
            <a:chOff x="4857750" y="4000500"/>
            <a:chExt cx="24765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4857750" y="40005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152538"/>
            </a:solidFill>
            <a:ln w="9525">
              <a:solidFill>
                <a:srgbClr val="00FF8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58010" y="4232910"/>
              <a:ext cx="8759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FF88"/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75960" y="4744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数据安全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05750" y="4000500"/>
            <a:ext cx="2476500" cy="1143000"/>
            <a:chOff x="7905750" y="4000500"/>
            <a:chExt cx="24765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7905750" y="40005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152538"/>
            </a:solidFill>
            <a:ln w="9525">
              <a:solidFill>
                <a:srgbClr val="FF6B3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95658" y="4232910"/>
              <a:ext cx="8966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免费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00636" y="47444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零门槛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544168" y="5585460"/>
            <a:ext cx="3103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A轮融资 | 1000万人民币 | 出让10%股份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53125" y="64750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 / 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8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8165" y="648652"/>
            <a:ext cx="912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PAIN POINTS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" y="9144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用户痛点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2500" y="1714500"/>
            <a:ext cx="3238500" cy="1714500"/>
            <a:chOff x="952500" y="1714500"/>
            <a:chExt cx="3238500" cy="1714500"/>
          </a:xfrm>
        </p:grpSpPr>
        <p:sp>
          <p:nvSpPr>
            <p:cNvPr id="5" name="Rectangle 5"/>
            <p:cNvSpPr/>
            <p:nvPr/>
          </p:nvSpPr>
          <p:spPr>
            <a:xfrm>
              <a:off x="952500" y="1714500"/>
              <a:ext cx="3238500" cy="1714500"/>
            </a:xfrm>
            <a:prstGeom prst="roundRect">
              <a:avLst>
                <a:gd name="adj" fmla="val 6667"/>
              </a:avLst>
            </a:prstGeom>
            <a:solidFill>
              <a:srgbClr val="1A0A10"/>
            </a:solidFill>
            <a:ln w="9525">
              <a:solidFill>
                <a:srgbClr val="FF6B3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1440" y="1802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62496" y="2488882"/>
              <a:ext cx="12185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85%月光族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1681" y="29346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工资花光却不知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8358" y="3125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花到哪里去了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76750" y="1714500"/>
            <a:ext cx="3238500" cy="1714500"/>
            <a:chOff x="4476750" y="1714500"/>
            <a:chExt cx="32385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714500"/>
              <a:ext cx="3238500" cy="1714500"/>
            </a:xfrm>
            <a:prstGeom prst="roundRect">
              <a:avLst>
                <a:gd name="adj" fmla="val 6667"/>
              </a:avLst>
            </a:prstGeom>
            <a:solidFill>
              <a:srgbClr val="1A0A10"/>
            </a:solidFill>
            <a:ln w="9525">
              <a:solidFill>
                <a:srgbClr val="FF6B3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05691" y="1802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95498" y="2488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记不住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99284" y="29346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靠记忆记账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99284" y="3125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完全不靠谱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01000" y="1714500"/>
            <a:ext cx="3238500" cy="1714500"/>
            <a:chOff x="8001000" y="1714500"/>
            <a:chExt cx="3238500" cy="1714500"/>
          </a:xfrm>
        </p:grpSpPr>
        <p:sp>
          <p:nvSpPr>
            <p:cNvPr id="17" name="Rectangle 17"/>
            <p:cNvSpPr/>
            <p:nvPr/>
          </p:nvSpPr>
          <p:spPr>
            <a:xfrm>
              <a:off x="8001000" y="1714500"/>
              <a:ext cx="3238500" cy="1714500"/>
            </a:xfrm>
            <a:prstGeom prst="roundRect">
              <a:avLst>
                <a:gd name="adj" fmla="val 6667"/>
              </a:avLst>
            </a:prstGeom>
            <a:solidFill>
              <a:srgbClr val="1A0A10"/>
            </a:solidFill>
            <a:ln w="9525">
              <a:solidFill>
                <a:srgbClr val="FF6B3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29940" y="1802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10996" y="2488882"/>
              <a:ext cx="12185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App太复杂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46858" y="2934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现有记账软件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23534" y="3125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太难不想用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3238500" y="4000500"/>
            <a:ext cx="5715000" cy="952500"/>
          </a:xfrm>
          <a:prstGeom prst="roundRect">
            <a:avLst>
              <a:gd name="adj" fmla="val 12000"/>
            </a:avLst>
          </a:prstGeom>
          <a:solidFill>
            <a:srgbClr val="152538"/>
          </a:solidFill>
          <a:ln w="19050">
            <a:solidFill>
              <a:srgbClr val="00D4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530840" y="4231005"/>
            <a:ext cx="71303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超过4.5亿潜在用户��被满足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36694" y="64750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2 / 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8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8165" y="648652"/>
            <a:ext cx="7593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FF88"/>
                </a:solidFill>
                <a:latin typeface="Segoe UI"/>
                <a:ea typeface="Microsoft YaHei"/>
                <a:cs typeface="Segoe UI"/>
              </a:rPr>
              <a:t>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" y="9144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财务管家的力量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714500"/>
            <a:ext cx="11049000" cy="1238250"/>
            <a:chOff x="571500" y="1714500"/>
            <a:chExt cx="1104900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0A1A0F"/>
            </a:solidFill>
            <a:ln w="9525">
              <a:solidFill>
                <a:srgbClr val="00FF88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62000" y="2047875"/>
              <a:ext cx="571500" cy="571500"/>
            </a:xfrm>
            <a:prstGeom prst="ellipse">
              <a:avLst/>
            </a:prstGeom>
            <a:solidFill>
              <a:srgbClr val="00FF8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3485" y="2234565"/>
              <a:ext cx="128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93545" y="2060258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FF88"/>
                  </a:solidFill>
                  <a:latin typeface="Segoe UI"/>
                  <a:ea typeface="Microsoft YaHei"/>
                  <a:cs typeface="Segoe UI"/>
                </a:rPr>
                <a:t>3秒极速记账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1165" y="24584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极简流程，一键完成，就是这么快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3143250"/>
            <a:ext cx="11049000" cy="1238250"/>
            <a:chOff x="571500" y="3143250"/>
            <a:chExt cx="11049000" cy="123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314325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0A1A0F"/>
            </a:solidFill>
            <a:ln w="9525">
              <a:solidFill>
                <a:srgbClr val="00FF8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3476625"/>
              <a:ext cx="571500" cy="571500"/>
            </a:xfrm>
            <a:prstGeom prst="ellipse">
              <a:avLst/>
            </a:prstGeom>
            <a:solidFill>
              <a:srgbClr val="00FF8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8981" y="366331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3545" y="3489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FF88"/>
                  </a:solidFill>
                  <a:latin typeface="Segoe UI"/>
                  <a:ea typeface="Microsoft YaHei"/>
                  <a:cs typeface="Segoe UI"/>
                </a:rPr>
                <a:t>智能财务报表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1165" y="3887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收支分类图表，一目了然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4572000"/>
            <a:ext cx="11049000" cy="1238250"/>
            <a:chOff x="571500" y="4572000"/>
            <a:chExt cx="11049000" cy="1238250"/>
          </a:xfrm>
        </p:grpSpPr>
        <p:sp>
          <p:nvSpPr>
            <p:cNvPr id="17" name="Rectangle 17"/>
            <p:cNvSpPr/>
            <p:nvPr/>
          </p:nvSpPr>
          <p:spPr>
            <a:xfrm>
              <a:off x="571500" y="45720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0A1A0F"/>
            </a:solidFill>
            <a:ln w="9525">
              <a:solidFill>
                <a:srgbClr val="00FF8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62000" y="4905375"/>
              <a:ext cx="571500" cy="571500"/>
            </a:xfrm>
            <a:prstGeom prst="ellipse">
              <a:avLst/>
            </a:prstGeom>
            <a:solidFill>
              <a:srgbClr val="00FF8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8981" y="509206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93545" y="4917758"/>
              <a:ext cx="16866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FF88"/>
                  </a:solidFill>
                  <a:latin typeface="Segoe UI"/>
                  <a:ea typeface="Microsoft YaHei"/>
                  <a:cs typeface="Segoe UI"/>
                </a:rPr>
                <a:t>Excel数据导出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1165" y="53159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随时导出，数据掌控在自己手中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936694" y="64750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3 / 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/>
      <p:bldP spid="16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8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8165" y="648652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" y="9144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广阔市场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60520" y="1762125"/>
            <a:ext cx="387096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0" b="1" dirty="0">
                <a:gradFill>
                  <a:gsLst>
                    <a:gs pos="0">
                      <a:srgbClr val="00D4FF"/>
                    </a:gs>
                    <a:gs pos="100000">
                      <a:srgbClr val="00FF88"/>
                    </a:gs>
                  </a:gsLst>
                  <a:lin ang="0" scaled="1"/>
                </a:gradFill>
                <a:effectLst>
                  <a:glow rad="38100">
                    <a:srgbClr val="000000">
                      <a:alpha val="30000"/>
                    </a:srgbClr>
                  </a:glow>
                </a:effectLst>
                <a:latin typeface="Segoe UI"/>
                <a:ea typeface="Microsoft YaHei"/>
                <a:cs typeface="Segoe UI"/>
              </a:rPr>
              <a:t>500亿+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0" y="29813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C5D6"/>
                </a:solidFill>
                <a:latin typeface="Segoe UI"/>
                <a:ea typeface="Microsoft YaHei"/>
                <a:cs typeface="Segoe UI"/>
              </a:rPr>
              <a:t>中国个人财务管理市场规模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24000" y="3619500"/>
            <a:ext cx="2667000" cy="1333500"/>
            <a:chOff x="1524000" y="3619500"/>
            <a:chExt cx="2667000" cy="1333500"/>
          </a:xfrm>
        </p:grpSpPr>
        <p:sp>
          <p:nvSpPr>
            <p:cNvPr id="7" name="Rectangle 7"/>
            <p:cNvSpPr/>
            <p:nvPr/>
          </p:nvSpPr>
          <p:spPr>
            <a:xfrm>
              <a:off x="1524000" y="3619500"/>
              <a:ext cx="2667000" cy="1333500"/>
            </a:xfrm>
            <a:prstGeom prst="roundRect">
              <a:avLst>
                <a:gd name="adj" fmla="val 8571"/>
              </a:avLst>
            </a:prstGeom>
            <a:solidFill>
              <a:srgbClr val="152538"/>
            </a:solidFill>
            <a:ln w="9525">
              <a:solidFill>
                <a:srgbClr val="00D4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09824" y="3867150"/>
              <a:ext cx="129535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4.5亿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1740" y="4490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潜在用户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0" y="3619500"/>
            <a:ext cx="2667000" cy="1333500"/>
            <a:chOff x="4762500" y="3619500"/>
            <a:chExt cx="2667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4762500" y="3619500"/>
              <a:ext cx="2667000" cy="1333500"/>
            </a:xfrm>
            <a:prstGeom prst="roundRect">
              <a:avLst>
                <a:gd name="adj" fmla="val 8571"/>
              </a:avLst>
            </a:prstGeom>
            <a:solidFill>
              <a:srgbClr val="152538"/>
            </a:solidFill>
            <a:ln w="9525">
              <a:solidFill>
                <a:srgbClr val="00FF8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78353" y="3867150"/>
              <a:ext cx="83529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0FF88"/>
                  </a:solidFill>
                  <a:latin typeface="Segoe UI"/>
                  <a:ea typeface="Microsoft YaHei"/>
                  <a:cs typeface="Segoe UI"/>
                </a:rPr>
                <a:t>68%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2610" y="449008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手机渗透率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1000" y="3619500"/>
            <a:ext cx="2667000" cy="1333500"/>
            <a:chOff x="8001000" y="3619500"/>
            <a:chExt cx="26670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8001000" y="3619500"/>
              <a:ext cx="2667000" cy="1333500"/>
            </a:xfrm>
            <a:prstGeom prst="roundRect">
              <a:avLst>
                <a:gd name="adj" fmla="val 8571"/>
              </a:avLst>
            </a:prstGeom>
            <a:solidFill>
              <a:srgbClr val="152538"/>
            </a:solidFill>
            <a:ln w="9525">
              <a:solidFill>
                <a:srgbClr val="FF6B3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16853" y="3867150"/>
              <a:ext cx="83529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32%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68740" y="4490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付费意愿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147239" y="53787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FF88"/>
                </a:solidFill>
                <a:latin typeface="Segoe UI"/>
                <a:ea typeface="Microsoft YaHei"/>
                <a:cs typeface="Segoe UI"/>
              </a:rPr>
              <a:t>蓝海市场，等你来占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36694" y="64750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 / 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8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" y="9144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创始团队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62250" y="1905000"/>
            <a:ext cx="2667000" cy="1905000"/>
            <a:chOff x="2762250" y="1905000"/>
            <a:chExt cx="2667000" cy="1905000"/>
          </a:xfrm>
        </p:grpSpPr>
        <p:sp>
          <p:nvSpPr>
            <p:cNvPr id="6" name="Rectangle 6"/>
            <p:cNvSpPr/>
            <p:nvPr/>
          </p:nvSpPr>
          <p:spPr>
            <a:xfrm>
              <a:off x="276225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52538"/>
            </a:solidFill>
            <a:ln w="9525">
              <a:solidFill>
                <a:srgbClr val="FF6B3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616261" y="1992630"/>
              <a:ext cx="95897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👨‍💻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17558" y="2853690"/>
              <a:ext cx="556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CEO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99034" y="3268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产品负责人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87211" y="3458528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10年经验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2750" y="1905000"/>
            <a:ext cx="2667000" cy="1905000"/>
            <a:chOff x="6762750" y="1905000"/>
            <a:chExt cx="2667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76275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52538"/>
            </a:solidFill>
            <a:ln w="9525">
              <a:solidFill>
                <a:srgbClr val="FF6B3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16762" y="1992630"/>
              <a:ext cx="95897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👩‍💼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18058" y="2853690"/>
              <a:ext cx="556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CTO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9534" y="3268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技术负责人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76210" y="34585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5D6"/>
                  </a:solidFill>
                  <a:latin typeface="Segoe UI"/>
                  <a:ea typeface="Microsoft YaHei"/>
                  <a:cs typeface="Segoe UI"/>
                </a:rPr>
                <a:t>全栈开发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191000" y="4286250"/>
            <a:ext cx="3810000" cy="666750"/>
            <a:chOff x="4191000" y="4286250"/>
            <a:chExt cx="3810000" cy="666750"/>
          </a:xfrm>
        </p:grpSpPr>
        <p:sp>
          <p:nvSpPr>
            <p:cNvPr id="18" name="Rectangle 18"/>
            <p:cNvSpPr/>
            <p:nvPr/>
          </p:nvSpPr>
          <p:spPr>
            <a:xfrm>
              <a:off x="4191000" y="4286250"/>
              <a:ext cx="3810000" cy="666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A855F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93335" y="4536758"/>
              <a:ext cx="22053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联系我们：A轮合作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87157" y="5315902"/>
            <a:ext cx="2817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8C5D6"/>
                </a:solidFill>
                <a:latin typeface="Segoe UI"/>
                <a:ea typeface="Microsoft YaHei"/>
                <a:cs typeface="Segoe UI"/>
              </a:rPr>
              <a:t>contact@finance.com | 138-0000-0000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6694" y="64750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5 / 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