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4000"/>
                </a:srgbClr>
              </a:gs>
              <a:gs pos="100000">
                <a:srgbClr val="FF85A2">
                  <a:alpha val="2000"/>
                </a:srgbClr>
              </a:gs>
            </a:gsLst>
            <a:lin ang="3806096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FF85A2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99583" y="2181225"/>
            <a:ext cx="439283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灵记 (LingJi)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16842" y="3123248"/>
            <a:ext cx="175831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项目运营手册</a:t>
            </a:r>
          </a:p>
        </p:txBody>
      </p:sp>
      <p:sp>
        <p:nvSpPr>
          <p:cNvPr id="7" name="Rectangle 7"/>
          <p:cNvSpPr/>
          <p:nvPr/>
        </p:nvSpPr>
        <p:spPr>
          <a:xfrm>
            <a:off x="5334000" y="361950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FF85A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289560" y="3950018"/>
            <a:ext cx="3612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个人财务管理工具 · 从零到一的运营实践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36810" y="5784056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2026年6月 · V1.0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FF85A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7842" y="485775"/>
            <a:ext cx="9963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目录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0" y="952500"/>
            <a:ext cx="762000" cy="28575"/>
          </a:xfrm>
          <a:prstGeom prst="roundRect">
            <a:avLst>
              <a:gd name="adj" fmla="val 50000"/>
            </a:avLst>
          </a:prstGeom>
          <a:solidFill>
            <a:srgbClr val="FF85A2">
              <a:alpha val="6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22020" y="1264920"/>
            <a:ext cx="3737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3045" y="134588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2020" y="1741170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3045" y="18221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用户群体定位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2020" y="2217420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3045" y="229838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核心功能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2020" y="2693670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3045" y="27746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用户维护方案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2020" y="3169920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3045" y="325088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推广方案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18020" y="1264920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99045" y="134588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内容运营方案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18020" y="1741170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07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99045" y="1822132"/>
            <a:ext cx="1728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自媒体运营管理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18020" y="2217420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08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99045" y="229838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私域运营方案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18020" y="2693670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09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99045" y="27746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活动运营建议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18020" y="3169920"/>
            <a:ext cx="3737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10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99045" y="3250882"/>
            <a:ext cx="1728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风险与应急管理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81243" y="6197441"/>
            <a:ext cx="16295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灵记 (LingJi) · 项目运营手册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7053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灵记是什么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4762500" cy="1333500"/>
          </a:xfrm>
          <a:prstGeom prst="roundRect">
            <a:avLst>
              <a:gd name="adj" fmla="val 8571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17245" y="1441132"/>
            <a:ext cx="25722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三种客户端，一套后端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9150" y="1743075"/>
            <a:ext cx="46715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Web 浏览器版 + iOS/Android APP + 微信小程序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9150" y="2009775"/>
            <a:ext cx="39047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共享 Java Spring Boot 后端，数据互通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762250"/>
            <a:ext cx="4762500" cy="1333500"/>
          </a:xfrm>
          <a:prstGeom prst="roundRect">
            <a:avLst>
              <a:gd name="adj" fmla="val 8571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17245" y="29651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本地优先，云端辅助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9150" y="3267075"/>
            <a:ext cx="40690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localStorage 作为主数据源，不依赖网络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9150" y="353377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后端同步是静默备份，失败不阻塞用户操作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4286250"/>
            <a:ext cx="4762500" cy="1333500"/>
          </a:xfrm>
          <a:prstGeom prst="roundRect">
            <a:avLst>
              <a:gd name="adj" fmla="val 8571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17245" y="44891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85A2"/>
                </a:solidFill>
                <a:latin typeface="Arial"/>
                <a:ea typeface="Microsoft YaHei"/>
                <a:cs typeface="Arial"/>
              </a:rPr>
              <a:t>软萌治愈的设计语言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9150" y="4791075"/>
            <a:ext cx="42333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樱花粉主色调 + 圆角无锐角 + 🐰 吉祥物灵灵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9150" y="5057775"/>
            <a:ext cx="42224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在"搞钱"类硬核工具之外，提供治愈系选择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905500" y="1238250"/>
            <a:ext cx="5715000" cy="1524000"/>
          </a:xfrm>
          <a:prstGeom prst="roundRect">
            <a:avLst>
              <a:gd name="adj" fmla="val 10000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240780" y="1278255"/>
            <a:ext cx="235492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V1.0 MVP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67450" y="1885950"/>
            <a:ext cx="26341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当前阶段: 核心功能已完成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67450" y="2171700"/>
            <a:ext cx="36747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记账 · 预算 · 统计 · 分类 · 数据同步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67450" y="2457450"/>
            <a:ext cx="43757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Android 端已适配，iOS 和微信小程序测试中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905500" y="3143250"/>
            <a:ext cx="5715000" cy="2476500"/>
          </a:xfrm>
          <a:prstGeom prst="roundRect">
            <a:avLst>
              <a:gd name="adj" fmla="val 6154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265545" y="3346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现实定位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67450" y="3695700"/>
            <a:ext cx="2886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一个面向熟人推荐的小众工具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67450" y="3981450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不是一个要烧钱推广的商业产品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67450" y="4267200"/>
            <a:ext cx="46058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运营策略的设计前提: 零预算、可落地、可持续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4667250"/>
            <a:ext cx="38100" cy="476250"/>
          </a:xfrm>
          <a:prstGeom prst="roundRect">
            <a:avLst>
              <a:gd name="adj" fmla="val 50000"/>
            </a:avLst>
          </a:prstGeom>
          <a:solidFill>
            <a:srgbClr val="FF85A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457950" y="4695825"/>
            <a:ext cx="13963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i="1" dirty="0">
                <a:solidFill>
                  <a:srgbClr val="FF85A2"/>
                </a:solidFill>
                <a:latin typeface="Georgia"/>
                <a:ea typeface="Microsoft YaHei"/>
                <a:cs typeface="Georgia"/>
              </a:rPr>
              <a:t>开源 MIT 协议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57950" y="498157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i="1" dirty="0">
                <a:solidFill>
                  <a:srgbClr val="FF85A2"/>
                </a:solidFill>
                <a:latin typeface="Georgia"/>
                <a:ea typeface="Microsoft YaHei"/>
                <a:cs typeface="Georgia"/>
              </a:rPr>
              <a:t>个人项目 · 社区驱动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679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2291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谁在用灵记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143000"/>
            <a:ext cx="5334000" cy="4953000"/>
          </a:xfrm>
          <a:prstGeom prst="roundRect">
            <a:avLst>
              <a:gd name="adj" fmla="val 2692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29640" y="1377315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核心用户画像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450" y="1838325"/>
            <a:ext cx="17687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年龄段: 22-35 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" y="2171700"/>
            <a:ext cx="30722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特征: 刚步入职场，有稳定收入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3450" y="2505075"/>
            <a:ext cx="26560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痛点: '不知道钱花去哪了'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3450" y="2838450"/>
            <a:ext cx="24150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审美: 喜欢治愈可爱风格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450" y="3171825"/>
            <a:ext cx="33023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频率: 每日 1-3 次 + 每月 1 次统计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3450" y="3743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次要用户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450" y="4076700"/>
            <a:ext cx="32475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对复杂记账APP感到疲惫的大学生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3450" y="441007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想要轻量替代品的职场新人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1143000"/>
            <a:ext cx="5334000" cy="4953000"/>
          </a:xfrm>
          <a:prstGeom prst="roundRect">
            <a:avLst>
              <a:gd name="adj" fmla="val 2692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644640" y="1377315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不建议投入精力服务的用户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48450" y="193357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需要企业级财务管理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48450" y="23145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需要多币种支持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48450" y="269557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需要投资组合追踪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48450" y="307657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超出轻量级记账工具的定位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0" y="3810000"/>
            <a:ext cx="4572000" cy="2857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648450" y="4124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核心洞察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48450" y="4457700"/>
            <a:ext cx="42443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年轻人对'消费羞耻'比'财务自由'更有共鸣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48450" y="4791075"/>
            <a:ext cx="40033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'搞钱'类硬核工具的排斥感是灵记的机会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679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229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六大核心功能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143000"/>
            <a:ext cx="3524250" cy="1676400"/>
          </a:xfrm>
          <a:prstGeom prst="roundRect">
            <a:avLst>
              <a:gd name="adj" fmla="val 6818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573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FF85A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1045" y="1298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快速记账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855" y="1664018"/>
            <a:ext cx="33959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3秒完成: 选类型-点分类-输金额-保存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194976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没有冗余表单字段，减少记账阻力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855" y="2235518"/>
            <a:ext cx="38297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Web版有飘浮动画反馈，APP版有Toast提示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33875" y="1143000"/>
            <a:ext cx="3524250" cy="1676400"/>
          </a:xfrm>
          <a:prstGeom prst="roundRect">
            <a:avLst>
              <a:gd name="adj" fmla="val 6818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333875" y="12573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FF85A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3420" y="1298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预算看板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7230" y="1664018"/>
            <a:ext cx="22327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月度进度条 + 健康度标签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07230" y="1949768"/>
            <a:ext cx="3248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绿/黄/橙/红四档阈值 (60/85/100%)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07230" y="223551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直观反馈，而非冷冰冰的数字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96250" y="1143000"/>
            <a:ext cx="3524250" cy="1676400"/>
          </a:xfrm>
          <a:prstGeom prst="roundRect">
            <a:avLst>
              <a:gd name="adj" fmla="val 6818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8096250" y="12573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FF85A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265795" y="1298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账单筛选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69605" y="1664018"/>
            <a:ext cx="16412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搜索 + 多维度筛选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69605" y="1949768"/>
            <a:ext cx="23312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类型/时间/分类/日期范围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69605" y="2235518"/>
            <a:ext cx="35931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按时间分组: 今天→昨天→本周→本月→更早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3048000"/>
            <a:ext cx="3524250" cy="1676400"/>
          </a:xfrm>
          <a:prstGeom prst="roundRect">
            <a:avLst>
              <a:gd name="adj" fmla="val 6818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31623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FF85A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1045" y="3203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统计分析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4855" y="3569018"/>
            <a:ext cx="25678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周/月切换 + 折线图 + 环形图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4855" y="3854768"/>
            <a:ext cx="22327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收支汇总卡片 + 日均支出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4855" y="41405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吉祥物动态消费建议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333875" y="3048000"/>
            <a:ext cx="3524250" cy="1676400"/>
          </a:xfrm>
          <a:prstGeom prst="roundRect">
            <a:avLst>
              <a:gd name="adj" fmla="val 6818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333875" y="31623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FF85A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03420" y="3203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分类管理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07230" y="3569018"/>
            <a:ext cx="23510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自定义分类 + Emoji + 颜色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07230" y="3854768"/>
            <a:ext cx="25284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8×8 Emoji网格 + 24色选择器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07230" y="4140518"/>
            <a:ext cx="23411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软删除保护 (最少保留1个)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96250" y="3048000"/>
            <a:ext cx="3524250" cy="1676400"/>
          </a:xfrm>
          <a:prstGeom prst="roundRect">
            <a:avLst>
              <a:gd name="adj" fmla="val 6818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8096250" y="31623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FF85A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265795" y="3203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数据同步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69605" y="3569018"/>
            <a:ext cx="21341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Web端 ↔ APP端数据互通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69605" y="3854768"/>
            <a:ext cx="30410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localStorage优先 + 后端静默备份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69605" y="41405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换设备不用重新记账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6679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229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如何让用户留下来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4850" y="790575"/>
            <a:ext cx="105208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记账工具天生是低频工具，强求每天打开反而引起反感。核心策略: 在用户需要时出现，不需要时安静待着。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33500"/>
            <a:ext cx="3524250" cy="2667000"/>
          </a:xfrm>
          <a:prstGeom prst="roundRect">
            <a:avLst>
              <a:gd name="adj" fmla="val 4286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971550" y="1543050"/>
            <a:ext cx="342900" cy="342900"/>
          </a:xfrm>
          <a:prstGeom prst="ellipse">
            <a:avLst/>
          </a:prstGeom>
          <a:solidFill>
            <a:srgbClr val="FF85A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94801" y="16259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57325" y="1609725"/>
            <a:ext cx="16828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首次记账后 7 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855" y="20450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用户是否形成记账习惯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4855" y="233076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此阶段需要降低操作门槛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4855" y="26165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不要用功能轰炸用户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3013710"/>
            <a:ext cx="26804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策略: 让前3次记账体验极致顺畅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33875" y="1333500"/>
            <a:ext cx="3524250" cy="2667000"/>
          </a:xfrm>
          <a:prstGeom prst="roundRect">
            <a:avLst>
              <a:gd name="adj" fmla="val 4286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4733925" y="1543050"/>
            <a:ext cx="342900" cy="342900"/>
          </a:xfrm>
          <a:prstGeom prst="ellipse">
            <a:avLst/>
          </a:prstGeom>
          <a:solidFill>
            <a:srgbClr val="FF85A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831298" y="16259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19700" y="160972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第一个月的结算日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7230" y="20450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用户首次看到支出汇总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7230" y="23307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价值感知最强的时刻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7230" y="26165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当前产品在统计页已提供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9135" y="3013710"/>
            <a:ext cx="26344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策略: 每月1号推送上月消费小结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1333500"/>
            <a:ext cx="3524250" cy="2667000"/>
          </a:xfrm>
          <a:prstGeom prst="roundRect">
            <a:avLst>
              <a:gd name="adj" fmla="val 4286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496300" y="1543050"/>
            <a:ext cx="342900" cy="342900"/>
          </a:xfrm>
          <a:prstGeom prst="ellipse">
            <a:avLst/>
          </a:prstGeom>
          <a:solidFill>
            <a:srgbClr val="FF85A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593673" y="16259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82075" y="1609725"/>
            <a:ext cx="1544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换手机/重装时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69605" y="20450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数据同步决定是否重新开始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69605" y="233076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当前数据同步功能的核心价值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69605" y="261651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Web端和APP端数据互通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71510" y="3013710"/>
            <a:ext cx="27632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策略: 保持数据同步功能的稳定性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2450" y="4362450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四个零成本维护动作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4355" y="4759642"/>
            <a:ext cx="34452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每月1号推送上月消费小结，一次就够了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4355" y="5045392"/>
            <a:ext cx="39973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统计页增加'分享账单'按钮，生成消费小结图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4355" y="5331142"/>
            <a:ext cx="34847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保持GitHub Issues活跃，24小时内回复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4355" y="561689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不做积分、签到、打卡。记账工具不需要这些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6679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229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零预算推广三阶段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143000"/>
            <a:ext cx="3524250" cy="3714750"/>
          </a:xfrm>
          <a:prstGeom prst="roundRect">
            <a:avLst>
              <a:gd name="adj" fmla="val 3243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1045" y="1393508"/>
            <a:ext cx="18004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第一阶段 0-3月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6760" y="177546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熟人圈子 + 技术社区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855" y="2092642"/>
            <a:ext cx="27552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GitHub开源推广: README放GIF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2378392"/>
            <a:ext cx="23510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V2EX/小众软件发帖求反馈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855" y="2664142"/>
            <a:ext cx="23707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朋友圈定向分享给10个朋友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3061335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关键: 真诚求反馈 &gt; 硬推广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191000" y="285750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FF85A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9135" y="28041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85A2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33875" y="1143000"/>
            <a:ext cx="3524250" cy="3714750"/>
          </a:xfrm>
          <a:prstGeom prst="roundRect">
            <a:avLst>
              <a:gd name="adj" fmla="val 3243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503420" y="1393508"/>
            <a:ext cx="18004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第二阶段 3-6月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09135" y="177546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内容 + 工具属性传播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7230" y="2092642"/>
            <a:ext cx="23707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小红书: 记账工具客观对比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7230" y="2378392"/>
            <a:ext cx="26073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B站: 从零开发记账APP的记录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7230" y="2664142"/>
            <a:ext cx="23707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知乎: 以用户身份回答推荐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9135" y="3061335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关键: 真实体验 &gt; 功能列表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096250" y="1143000"/>
            <a:ext cx="3524250" cy="3714750"/>
          </a:xfrm>
          <a:prstGeom prst="roundRect">
            <a:avLst>
              <a:gd name="adj" fmla="val 3243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65795" y="1393508"/>
            <a:ext cx="18763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第三阶段 6-12月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71510" y="1775460"/>
            <a:ext cx="15302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口碑 + 场景化传播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69605" y="209264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用户自发推荐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69605" y="2378392"/>
            <a:ext cx="20552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年度账单功能 (12月底)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69605" y="266414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不做付费推广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71510" y="3061335"/>
            <a:ext cx="2606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关键: 保证首次体验 &gt; 追求增长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1435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54355" y="5378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不做的事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4355" y="5712142"/>
            <a:ext cx="85519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不做付费推广。工具型产品的CAC如果大于0，就需要靠付费模式回收，而当前产品没有付费能力。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679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22910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内容矩阵与发布节奏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4850" y="790575"/>
            <a:ext cx="63803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核心目标: 让目标用户知道这个工具的存在，并觉得'这个人懂我'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3350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2950" y="15525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小红书主号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5808" y="1910239"/>
            <a:ext cx="28162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人设: '一个认真记账的普通女孩'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5808" y="2148364"/>
            <a:ext cx="31793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内容: 记账方法(50%)+消费复盘(30%)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5808" y="2386489"/>
            <a:ext cx="13917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+工具推荐(20%)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5808" y="2719864"/>
            <a:ext cx="29000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风格: 手写体+实拍图，不修模板图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5808" y="3005614"/>
            <a:ext cx="15779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每周1篇，周末发布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33875" y="133350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05325" y="1552575"/>
            <a:ext cx="16598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GitHub项目主页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08182" y="1910239"/>
            <a:ext cx="31235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README: Logo+一句话+GIF+快速开始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08182" y="2148364"/>
            <a:ext cx="174555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开发日志 + Roadmap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8182" y="2386489"/>
            <a:ext cx="27604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Release Notes写成产品更新日志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8182" y="2719864"/>
            <a:ext cx="22669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技术栈列表不要放在最前面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8182" y="3005614"/>
            <a:ext cx="244385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每两周1次提交+Release Note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96250" y="133350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67700" y="1552575"/>
            <a:ext cx="17748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即刻/微博碎片化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70558" y="1910239"/>
            <a:ext cx="22669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分享开发过程中的真实片段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70558" y="2148364"/>
            <a:ext cx="23041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'修了个Bug修到凌晨两点，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70558" y="2386489"/>
            <a:ext cx="21831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发现是自己拼错了变量名'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70558" y="2719864"/>
            <a:ext cx="2639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这种内容比功能宣传更有吸引力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0558" y="3005614"/>
            <a:ext cx="20807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不定时更新，有东西才发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4000500"/>
            <a:ext cx="11049000" cy="1714500"/>
          </a:xfrm>
          <a:prstGeom prst="roundRect">
            <a:avLst>
              <a:gd name="adj" fmla="val 6667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2950" y="4219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内容禁区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4855" y="4616768"/>
            <a:ext cx="62450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不说'颠覆'、'革命'、'重新定义' — 这是一个记账工具，不是iPhone。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4855" y="4902518"/>
            <a:ext cx="66394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不发纯功能列表。'支持50种分类'没人会分享，'靠记账省了3000块'才会。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4855" y="5188268"/>
            <a:ext cx="59887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不在内容中过度美化。记账解决的是'钱去哪了'，不是'怎么赚钱'。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679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229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一人运营策略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4850" y="790575"/>
            <a:ext cx="95350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一句大实话: 单人项目不需要'媒体矩阵'，先做好一个平台比什么都重要。时间预算: 每周4小时。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6667500" cy="3238500"/>
          </a:xfrm>
          <a:prstGeom prst="roundRect">
            <a:avLst>
              <a:gd name="adj" fmla="val 4118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34390" y="1472565"/>
            <a:ext cx="221259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主攻平台: 小红书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9152" y="1894046"/>
            <a:ext cx="990114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选择理由: 用户画像与目标用户高度重合，长尾流量远超其他平台。一篇笔记发布3个月后仍能带来新用户。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9152" y="2275046"/>
            <a:ext cx="502069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人设: '一个认真记账的普通女孩'，不要财经专家形象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9152" y="2560796"/>
            <a:ext cx="463567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头像: 🐰 灵记吉祥物而非真人照片 (降低社交压力)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9152" y="2846546"/>
            <a:ext cx="513516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内容日历: 周一收藏竞品-周三初稿-周四配图-周六发布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9152" y="3132296"/>
            <a:ext cx="52288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互动策略: 每条评论都回复，引导对话而非简单说'谢谢'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152" y="3513296"/>
            <a:ext cx="49374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前5篇笔记在项目上线前写好，确保上线后有持续内容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0" y="1238250"/>
            <a:ext cx="4000500" cy="3238500"/>
          </a:xfrm>
          <a:prstGeom prst="roundRect">
            <a:avLst>
              <a:gd name="adj" fmla="val 4118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82890" y="1472565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不推荐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8605" y="1902142"/>
            <a:ext cx="4342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公众号: 需要高频高质量更新，单人运营成本太高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88605" y="2330768"/>
            <a:ext cx="3277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抖音: 记账内容视频化难度大，ROI低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88605" y="275939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微博: 流量集中在娱乐和热点，工具类难以突围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86700" y="3552825"/>
            <a:ext cx="13952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辅助: GitHub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88605" y="385476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面向开发者和潜在贡献者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88605" y="4092892"/>
            <a:ext cx="27453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README第一屏 = Landing Page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679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22910"/>
            <a:ext cx="37329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轻量私域: 三级结构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4850" y="790575"/>
            <a:ext cx="64350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私域的本质不是'微信群'，而是'让用户觉得有地方可以找到你'。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33500"/>
            <a:ext cx="3524250" cy="3333750"/>
          </a:xfrm>
          <a:prstGeom prst="roundRect">
            <a:avLst>
              <a:gd name="adj" fmla="val 3429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1045" y="1584008"/>
            <a:ext cx="26607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Level 1: GitHub Issues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855" y="199739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最自然的反馈渠道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2330768"/>
            <a:ext cx="24298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用户在Issues里提问→回复→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855" y="2568892"/>
            <a:ext cx="29030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其他用户发现讨论→形成微型社区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3061335"/>
            <a:ext cx="18707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当前阶段最合适的方案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33875" y="1333500"/>
            <a:ext cx="3524250" cy="3333750"/>
          </a:xfrm>
          <a:prstGeom prst="roundRect">
            <a:avLst>
              <a:gd name="adj" fmla="val 3429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3420" y="1584008"/>
            <a:ext cx="186373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Level 2: 微信群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7230" y="1997392"/>
            <a:ext cx="28932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当GitHub Issues超过50条后考虑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07230" y="233076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只建一个群，不做分层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07230" y="2568892"/>
            <a:ext cx="239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群规: '聊记账和消费相关'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9135" y="3061335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群主每周主动分享消费复盘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96250" y="1333500"/>
            <a:ext cx="3524250" cy="3333750"/>
          </a:xfrm>
          <a:prstGeom prst="roundRect">
            <a:avLst>
              <a:gd name="adj" fmla="val 3429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265795" y="1584008"/>
            <a:ext cx="21167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Level 3: 邮件列表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69605" y="1997392"/>
            <a:ext cx="24988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用GitHub Releases订阅替代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69605" y="2330768"/>
            <a:ext cx="21538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用户订阅Release = 加入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69605" y="25688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产品更新通知邮件列表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71510" y="30613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零维护成本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953000"/>
            <a:ext cx="11049000" cy="1143000"/>
          </a:xfrm>
          <a:prstGeom prst="roundRect">
            <a:avLst>
              <a:gd name="adj" fmla="val 10000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2950" y="51244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不做什么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4855" y="5474018"/>
            <a:ext cx="83941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不做企业微信 — 不需要SCRM。不建付费社群 — 工具本身免费。不做1v1私聊 — 走GitHub Issues。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98105" y="648319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229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四个零成本活动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4850" y="790575"/>
            <a:ext cx="10794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工具型产品的活动不是促销，而是'帮用户用好工具'式的引导。以下全部零成本、可执行、不需要开发新功能。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33500"/>
            <a:ext cx="5334000" cy="1619250"/>
          </a:xfrm>
          <a:prstGeom prst="roundRect">
            <a:avLst>
              <a:gd name="adj" fmla="val 7059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2950" y="1552575"/>
            <a:ext cx="30169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每月活动: #本月消费关键词#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5808" y="1910239"/>
            <a:ext cx="48180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每月1号发起话题: 看完上月账单，你的消费关键词是什么?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5808" y="2195989"/>
            <a:ext cx="56094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用户截图统计页 + 一个词分享。天然UGC推广 + 培养月底看账单习惯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333500"/>
            <a:ext cx="5334000" cy="1619250"/>
          </a:xfrm>
          <a:prstGeom prst="roundRect">
            <a:avLst>
              <a:gd name="adj" fmla="val 7059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457950" y="1552575"/>
            <a:ext cx="24994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季度活动: 21天记账挑战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60808" y="1910239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连续记账21天的小实验。不需要打卡系统。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60808" y="2195989"/>
            <a:ext cx="509739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第22天发总结文章，放上参与者的消费变化数据(脱敏后)分享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3238500"/>
            <a:ext cx="5334000" cy="1619250"/>
          </a:xfrm>
          <a:prstGeom prst="roundRect">
            <a:avLst>
              <a:gd name="adj" fmla="val 7059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42950" y="3457575"/>
            <a:ext cx="34195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85A2"/>
                </a:solidFill>
                <a:latin typeface="Arial"/>
                <a:ea typeface="Microsoft YaHei"/>
                <a:cs typeface="Arial"/>
              </a:rPr>
              <a:t>年度活动: 年度账单分享 ★最重要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5808" y="3815239"/>
            <a:ext cx="5618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12月底上线年度账单。12个月汇总数据 + 几行文案 + 一张好看的图。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5808" y="4100989"/>
            <a:ext cx="73319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用户分享的是'自己的年度总结'不是'在帮工具做广告'。记账工具全年最重要传播节点。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3238500"/>
            <a:ext cx="5334000" cy="1619250"/>
          </a:xfrm>
          <a:prstGeom prst="roundRect">
            <a:avLst>
              <a:gd name="adj" fmla="val 7059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57950" y="3457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不做什么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0808" y="3815239"/>
            <a:ext cx="72109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不做拉新奖励、不做邀请码、不做限时折扣。这些策略对电商/社交有效，对工具无效。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60808" y="4100989"/>
            <a:ext cx="69595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用户会因为'这个东西真的帮我省了钱'而推荐，不会因为'邀请好友送会员'而推荐。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88830" y="5330190"/>
            <a:ext cx="50143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Georgia"/>
                <a:ea typeface="Microsoft YaHei"/>
                <a:cs typeface="Georgia"/>
              </a:rPr>
              <a:t>如果只做一件事增加传播，就做年度账单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28228" y="6483191"/>
            <a:ext cx="932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9610" y="4229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Georgia"/>
                <a:ea typeface="Microsoft YaHei"/>
                <a:cs typeface="Georgia"/>
              </a:rPr>
              <a:t>风险矩阵与应对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2450" y="981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技术风险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285875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5808" y="1433989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后端服务宕机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63165" y="1458278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46058" y="1433989"/>
            <a:ext cx="90451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后端宕机不影响Web端使用(localStorage优先)，仅影响APP端同步。应急: 前端加提示引导用户先用Web端。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5808" y="1767364"/>
            <a:ext cx="13358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数据库数据丢失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3165" y="1791652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46058" y="1767364"/>
            <a:ext cx="684780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预防: 每天凌晨自动备份MySQL保留30天。应急: 通知用户从本地或APP重新同步。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5808" y="2100739"/>
            <a:ext cx="1894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微信小程序审核不通过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63165" y="2125028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Georgia"/>
                <a:ea typeface="Microsoft YaHei"/>
                <a:cs typeface="Georgia"/>
              </a:rPr>
              <a:t>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46058" y="2100739"/>
            <a:ext cx="61122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个人主体小程序审核宽松。确保不涉及UGC、不涉及支付、隐私政策完整。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450" y="2790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运营风险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3095625"/>
            <a:ext cx="11049000" cy="1000125"/>
          </a:xfrm>
          <a:prstGeom prst="roundRect">
            <a:avLst>
              <a:gd name="adj" fmla="val 9524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5808" y="3243739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负面评价扩散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63165" y="3268028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Georgia"/>
                <a:ea typeface="Microsoft YaHei"/>
                <a:cs typeface="Georgia"/>
              </a:rPr>
              <a:t>低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46058" y="3243739"/>
            <a:ext cx="62798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小体量产品几乎不会遇到。若单用户投诉，公开回复+私聊解决。不要删帖。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5808" y="357711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竞品模仿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63165" y="3601402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46058" y="3577114"/>
            <a:ext cx="689436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工具类没有壁垒。策略不是防模仿而是跑更快: 保持月更，让模仿者总慢一个版本。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2450" y="4267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合规风险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572000"/>
            <a:ext cx="11049000" cy="1285875"/>
          </a:xfrm>
          <a:prstGeom prst="roundRect">
            <a:avLst>
              <a:gd name="adj" fmla="val 7407"/>
            </a:avLst>
          </a:prstGeom>
          <a:solidFill>
            <a:srgbClr val="F0F2F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5808" y="472011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隐私政策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63165" y="4744402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46058" y="4720114"/>
            <a:ext cx="59260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APP上架必须提供。模板化隐私政策即可，说明收集了哪些数据、用途。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5808" y="5053489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开源协议缺失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63165" y="5077778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746058" y="5053489"/>
            <a:ext cx="66895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当前未声明License。建议MIT License，在GitHub仓库根目录添加LICENSE文件。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5808" y="5386864"/>
            <a:ext cx="156864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数据安全: API认证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63165" y="5411152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46058" y="5386864"/>
            <a:ext cx="75181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当前V1.0 API未强制JWT验证。在对外开放部署前修复。密码已使用BCrypt/SHA-256加密。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698105" y="648319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